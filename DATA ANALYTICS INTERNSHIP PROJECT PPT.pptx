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0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5676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474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454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t>9/24/2026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07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557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561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563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0686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179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358995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37221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166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5706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92247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0569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1583514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31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4972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4931164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0337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3991472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19627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3337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4906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130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49877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8130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9">
            <a:alphaModFix amt="52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0102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10" r:id="rId1"/>
    <p:sldLayoutId id="2147484211" r:id="rId2"/>
    <p:sldLayoutId id="2147484212" r:id="rId3"/>
    <p:sldLayoutId id="2147484213" r:id="rId4"/>
    <p:sldLayoutId id="2147484214" r:id="rId5"/>
    <p:sldLayoutId id="2147484215" r:id="rId6"/>
    <p:sldLayoutId id="2147484216" r:id="rId7"/>
    <p:sldLayoutId id="2147484217" r:id="rId8"/>
    <p:sldLayoutId id="2147484218" r:id="rId9"/>
    <p:sldLayoutId id="2147484219" r:id="rId10"/>
    <p:sldLayoutId id="2147484220" r:id="rId11"/>
    <p:sldLayoutId id="2147484221" r:id="rId12"/>
    <p:sldLayoutId id="2147484222" r:id="rId13"/>
    <p:sldLayoutId id="2147484223" r:id="rId14"/>
    <p:sldLayoutId id="2147484224" r:id="rId15"/>
    <p:sldLayoutId id="2147484225" r:id="rId16"/>
    <p:sldLayoutId id="2147484226" r:id="rId17"/>
    <p:sldLayoutId id="2147484227" r:id="rId18"/>
    <p:sldLayoutId id="2147484228" r:id="rId19"/>
    <p:sldLayoutId id="2147484229" r:id="rId20"/>
    <p:sldLayoutId id="2147484230" r:id="rId21"/>
    <p:sldLayoutId id="2147484231" r:id="rId22"/>
    <p:sldLayoutId id="2147484232" r:id="rId23"/>
    <p:sldLayoutId id="2147484233" r:id="rId24"/>
    <p:sldLayoutId id="2147484234" r:id="rId25"/>
    <p:sldLayoutId id="2147484235" r:id="rId26"/>
    <p:sldLayoutId id="2147484236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6857" y="1081565"/>
            <a:ext cx="1073458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74D"/>
                </a:solidFill>
                <a:latin typeface="Aptos Display"/>
              </a:defRPr>
            </a:pPr>
            <a:r>
              <a:rPr lang="en-US" sz="4000" dirty="0">
                <a:solidFill>
                  <a:schemeClr val="bg1"/>
                </a:solidFill>
              </a:rPr>
              <a:t>ENTERPRISE DATA RECONCILIATION &amp; BUSINESS INTELLIGENCE</a:t>
            </a:r>
          </a:p>
          <a:p>
            <a:pPr>
              <a:defRPr sz="2300">
                <a:solidFill>
                  <a:srgbClr val="5F6368"/>
                </a:solidFill>
                <a:latin typeface="Aptos"/>
              </a:defRPr>
            </a:pPr>
            <a:r>
              <a:rPr lang="en-US" sz="4000" dirty="0">
                <a:solidFill>
                  <a:schemeClr val="bg1"/>
                </a:solidFill>
              </a:rPr>
              <a:t>GLOBALTECH FINANCIAL AUDIT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857" y="3403832"/>
            <a:ext cx="900094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F6368"/>
                </a:solidFill>
                <a:latin typeface="Aptos"/>
              </a:defRPr>
            </a:pPr>
            <a:r>
              <a:rPr lang="en-US" sz="2400" b="1" dirty="0">
                <a:solidFill>
                  <a:schemeClr val="bg1"/>
                </a:solidFill>
              </a:rPr>
              <a:t>INTERNSHIP STUDIO PROJECT</a:t>
            </a:r>
          </a:p>
          <a:p>
            <a:pPr>
              <a:defRPr sz="1800">
                <a:solidFill>
                  <a:srgbClr val="5F6368"/>
                </a:solidFill>
                <a:latin typeface="Aptos"/>
              </a:defRPr>
            </a:pPr>
            <a:endParaRPr lang="en-US" sz="2400" b="1" dirty="0">
              <a:solidFill>
                <a:schemeClr val="bg1"/>
              </a:solidFill>
            </a:endParaRPr>
          </a:p>
          <a:p>
            <a:pPr>
              <a:defRPr sz="1600">
                <a:solidFill>
                  <a:srgbClr val="5F6368"/>
                </a:solidFill>
                <a:latin typeface="Aptos"/>
              </a:defRPr>
            </a:pPr>
            <a:r>
              <a:rPr sz="2400" b="1" dirty="0">
                <a:solidFill>
                  <a:schemeClr val="bg1"/>
                </a:solidFill>
              </a:rPr>
              <a:t>Presented by: Maitreyini S</a:t>
            </a:r>
          </a:p>
          <a:p>
            <a:pPr>
              <a:defRPr sz="1600">
                <a:solidFill>
                  <a:srgbClr val="5F6368"/>
                </a:solidFill>
                <a:latin typeface="Aptos"/>
              </a:defRPr>
            </a:pPr>
            <a:r>
              <a:rPr sz="2400" b="1" dirty="0">
                <a:solidFill>
                  <a:schemeClr val="bg1"/>
                </a:solidFill>
              </a:rPr>
              <a:t>Tools: Python, SQL, Pandas, Regular Expressions,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28418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4D"/>
                </a:solidFill>
                <a:latin typeface="Aptos Display"/>
              </a:defRPr>
            </a:pPr>
            <a:r>
              <a:rPr lang="en-US" sz="3600" dirty="0">
                <a:solidFill>
                  <a:schemeClr val="bg1"/>
                </a:solidFill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5486400" cy="4144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74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Objective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Combine user, transaction, server log and exchange rate data.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Identify the latest status of users.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Clean and extract valid transactions from server logs.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Reconcile transaction data with daily EUR to USD exchange rates.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Calculate USD revenue and prepare the final BI dataset</a:t>
            </a:r>
            <a:r>
              <a:rPr sz="2400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34440"/>
            <a:ext cx="5029200" cy="331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74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Project Details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Audit period: January–December 2023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Database: SQLite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Processing: Python, Pandas and Regular Expressions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Output: Power BI-ready CSV dataset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33052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4D"/>
                </a:solidFill>
                <a:latin typeface="Aptos Display"/>
              </a:defRPr>
            </a:pPr>
            <a:r>
              <a:rPr lang="en-US" sz="3600" dirty="0">
                <a:solidFill>
                  <a:schemeClr val="bg1"/>
                </a:solidFill>
              </a:rPr>
              <a:t>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5394960" cy="3685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74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Source Files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Enterprise Database — user information, status and update date.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Server Logs — transaction date, User ID, Product ID and Euro value.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Daily Exchange Rates — EUR to USD conversion rates.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Final Power BI Dataset — reconciled transaction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234440"/>
            <a:ext cx="5120640" cy="4044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74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Final Dataset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53,899 reconciled records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Date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User</a:t>
            </a:r>
            <a:r>
              <a:rPr lang="en-US" sz="2400" dirty="0">
                <a:solidFill>
                  <a:schemeClr val="bg1"/>
                </a:solidFill>
              </a:rPr>
              <a:t> I</a:t>
            </a:r>
            <a:r>
              <a:rPr sz="2400" dirty="0">
                <a:solidFill>
                  <a:schemeClr val="bg1"/>
                </a:solidFill>
              </a:rPr>
              <a:t>D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Product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sz="2400" dirty="0">
                <a:solidFill>
                  <a:schemeClr val="bg1"/>
                </a:solidFill>
              </a:rPr>
              <a:t>ID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Euro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sz="2400" dirty="0">
                <a:solidFill>
                  <a:schemeClr val="bg1"/>
                </a:solidFill>
              </a:rPr>
              <a:t>Value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EUR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sz="2400" dirty="0">
                <a:solidFill>
                  <a:schemeClr val="bg1"/>
                </a:solidFill>
              </a:rPr>
              <a:t>to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sz="2400" dirty="0">
                <a:solidFill>
                  <a:schemeClr val="bg1"/>
                </a:solidFill>
              </a:rPr>
              <a:t>USD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USD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sz="2400" dirty="0">
                <a:solidFill>
                  <a:schemeClr val="bg1"/>
                </a:solidFill>
              </a:rPr>
              <a:t>Revenue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name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9536"/>
            <a:ext cx="957576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4D"/>
                </a:solidFill>
                <a:latin typeface="Aptos Display"/>
              </a:defRPr>
            </a:pPr>
            <a:r>
              <a:rPr lang="en-US" sz="4000" dirty="0">
                <a:solidFill>
                  <a:schemeClr val="bg1"/>
                </a:solidFill>
              </a:rPr>
              <a:t>PHASE 1 – SQL USER STATUS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3840480" cy="2028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74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Objective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Identify the latest status of each user.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Keep only users whose latest status is Active.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0440"/>
            <a:ext cx="3840480" cy="248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74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SQL Method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ROW_NUMBER() with PARTITION BY </a:t>
            </a:r>
            <a:r>
              <a:rPr sz="2400" dirty="0" err="1">
                <a:solidFill>
                  <a:schemeClr val="bg1"/>
                </a:solidFill>
              </a:rPr>
              <a:t>user_id</a:t>
            </a:r>
            <a:endParaRPr sz="2400" dirty="0">
              <a:solidFill>
                <a:schemeClr val="bg1"/>
              </a:solidFill>
            </a:endParaRP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ORDER BY </a:t>
            </a:r>
            <a:r>
              <a:rPr sz="2400" dirty="0" err="1">
                <a:solidFill>
                  <a:schemeClr val="bg1"/>
                </a:solidFill>
              </a:rPr>
              <a:t>updated_at</a:t>
            </a:r>
            <a:r>
              <a:rPr sz="2400" dirty="0">
                <a:solidFill>
                  <a:schemeClr val="bg1"/>
                </a:solidFill>
              </a:rPr>
              <a:t> DESC</a:t>
            </a:r>
          </a:p>
          <a:p>
            <a:pPr>
              <a:spcAft>
                <a:spcPts val="7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</a:t>
            </a:r>
            <a:r>
              <a:rPr sz="2400" dirty="0" err="1">
                <a:solidFill>
                  <a:schemeClr val="bg1"/>
                </a:solidFill>
              </a:rPr>
              <a:t>rn</a:t>
            </a:r>
            <a:r>
              <a:rPr sz="2400" dirty="0">
                <a:solidFill>
                  <a:schemeClr val="bg1"/>
                </a:solidFill>
              </a:rPr>
              <a:t> = 1 and status = 'Active'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5446106"/>
            <a:ext cx="6812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AAB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374D"/>
                </a:solidFill>
              </a:defRPr>
            </a:pPr>
            <a:r>
              <a:rPr dirty="0"/>
              <a:t>Result: 14,183 Active Users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33EBF6-4E97-8B4E-EA97-FEFCCFB7024B}"/>
              </a:ext>
            </a:extLst>
          </p:cNvPr>
          <p:cNvSpPr txBox="1"/>
          <p:nvPr/>
        </p:nvSpPr>
        <p:spPr>
          <a:xfrm>
            <a:off x="4709160" y="1100979"/>
            <a:ext cx="608076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CODE</a:t>
            </a:r>
          </a:p>
          <a:p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</a:rPr>
              <a:t>SELECT </a:t>
            </a:r>
            <a:r>
              <a:rPr lang="en-US" sz="2400" dirty="0" err="1">
                <a:solidFill>
                  <a:schemeClr val="bg1"/>
                </a:solidFill>
                <a:latin typeface="Aptos" panose="020B0004020202020204" pitchFamily="34" charset="0"/>
              </a:rPr>
              <a:t>user_id</a:t>
            </a:r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</a:rPr>
              <a:t>, name, status, </a:t>
            </a:r>
            <a:r>
              <a:rPr lang="en-US" sz="2400" dirty="0" err="1">
                <a:solidFill>
                  <a:schemeClr val="bg1"/>
                </a:solidFill>
                <a:latin typeface="Aptos" panose="020B0004020202020204" pitchFamily="34" charset="0"/>
              </a:rPr>
              <a:t>updated_at</a:t>
            </a:r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</a:rPr>
              <a:t> FROM ( SELECT </a:t>
            </a:r>
            <a:r>
              <a:rPr lang="en-US" sz="2400" dirty="0" err="1">
                <a:solidFill>
                  <a:schemeClr val="bg1"/>
                </a:solidFill>
                <a:latin typeface="Aptos" panose="020B0004020202020204" pitchFamily="34" charset="0"/>
              </a:rPr>
              <a:t>user_id</a:t>
            </a:r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</a:rPr>
              <a:t>, name, status, </a:t>
            </a:r>
            <a:r>
              <a:rPr lang="en-US" sz="2400" dirty="0" err="1">
                <a:solidFill>
                  <a:schemeClr val="bg1"/>
                </a:solidFill>
                <a:latin typeface="Aptos" panose="020B0004020202020204" pitchFamily="34" charset="0"/>
              </a:rPr>
              <a:t>updated_at</a:t>
            </a:r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</a:rPr>
              <a:t>, ROW_NUMBER() OVER ( PARTITION BY </a:t>
            </a:r>
            <a:r>
              <a:rPr lang="en-US" sz="2400" dirty="0" err="1">
                <a:solidFill>
                  <a:schemeClr val="bg1"/>
                </a:solidFill>
                <a:latin typeface="Aptos" panose="020B0004020202020204" pitchFamily="34" charset="0"/>
              </a:rPr>
              <a:t>user_id</a:t>
            </a:r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</a:rPr>
              <a:t> ORDER BY </a:t>
            </a:r>
            <a:r>
              <a:rPr lang="en-US" sz="2400" dirty="0" err="1">
                <a:solidFill>
                  <a:schemeClr val="bg1"/>
                </a:solidFill>
                <a:latin typeface="Aptos" panose="020B0004020202020204" pitchFamily="34" charset="0"/>
              </a:rPr>
              <a:t>updated_at</a:t>
            </a:r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</a:rPr>
              <a:t> DESC ) AS </a:t>
            </a:r>
            <a:r>
              <a:rPr lang="en-US" sz="2400" dirty="0" err="1">
                <a:solidFill>
                  <a:schemeClr val="bg1"/>
                </a:solidFill>
                <a:latin typeface="Aptos" panose="020B0004020202020204" pitchFamily="34" charset="0"/>
              </a:rPr>
              <a:t>rn</a:t>
            </a:r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</a:rPr>
              <a:t> FROM users ) WHERE </a:t>
            </a:r>
            <a:r>
              <a:rPr lang="en-US" sz="2400" dirty="0" err="1">
                <a:solidFill>
                  <a:schemeClr val="bg1"/>
                </a:solidFill>
                <a:latin typeface="Aptos" panose="020B0004020202020204" pitchFamily="34" charset="0"/>
              </a:rPr>
              <a:t>rn</a:t>
            </a:r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</a:rPr>
              <a:t> = 1 AND status = 'Active';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BF2C353-F3F0-45E0-1A12-1DAFEE61D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219" y="3796431"/>
            <a:ext cx="6482794" cy="14575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50104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4D"/>
                </a:solidFill>
                <a:latin typeface="Aptos Display"/>
              </a:defRPr>
            </a:pPr>
            <a:r>
              <a:rPr lang="en-US" sz="4000" dirty="0">
                <a:solidFill>
                  <a:schemeClr val="bg1"/>
                </a:solidFill>
              </a:rPr>
              <a:t>PHASE 2 – SERVER LOG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3749039" cy="4883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74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Process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Load the server log file.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Remove ERROR transaction records.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Use Regular Expressions to extract transaction fields.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Convert Date and </a:t>
            </a:r>
            <a:r>
              <a:rPr sz="2400" dirty="0" err="1">
                <a:solidFill>
                  <a:schemeClr val="bg1"/>
                </a:solidFill>
              </a:rPr>
              <a:t>Euro_Value</a:t>
            </a:r>
            <a:r>
              <a:rPr sz="2400" dirty="0">
                <a:solidFill>
                  <a:schemeClr val="bg1"/>
                </a:solidFill>
              </a:rPr>
              <a:t> to usable data types.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Remove incomplete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42560" y="5321808"/>
            <a:ext cx="69494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74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Validation Results</a:t>
            </a:r>
          </a:p>
          <a:p>
            <a:pPr>
              <a:spcAft>
                <a:spcPts val="700"/>
              </a:spcAft>
              <a:defRPr sz="13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Raw logs: 100,000   |   ERROR removed: 5,098   |   Clean transactions: 94,902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0146E9-9225-9ED7-1256-BAE6A3B78355}"/>
              </a:ext>
            </a:extLst>
          </p:cNvPr>
          <p:cNvSpPr txBox="1"/>
          <p:nvPr/>
        </p:nvSpPr>
        <p:spPr>
          <a:xfrm>
            <a:off x="5290984" y="1213617"/>
            <a:ext cx="609845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CODE</a:t>
            </a:r>
          </a:p>
          <a:p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</a:rPr>
              <a:t>with open(</a:t>
            </a:r>
            <a:r>
              <a:rPr lang="en-US" sz="2400" dirty="0" err="1">
                <a:solidFill>
                  <a:schemeClr val="bg1"/>
                </a:solidFill>
                <a:latin typeface="Aptos" panose="020B0004020202020204" pitchFamily="34" charset="0"/>
              </a:rPr>
              <a:t>log_path</a:t>
            </a:r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</a:rPr>
              <a:t>, "r", encoding="utf-8") as file:</a:t>
            </a:r>
          </a:p>
          <a:p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</a:rPr>
              <a:t>    </a:t>
            </a:r>
            <a:r>
              <a:rPr lang="en-US" sz="2400" dirty="0" err="1">
                <a:solidFill>
                  <a:schemeClr val="bg1"/>
                </a:solidFill>
                <a:latin typeface="Aptos" panose="020B0004020202020204" pitchFamily="34" charset="0"/>
              </a:rPr>
              <a:t>raw_logs</a:t>
            </a:r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</a:rPr>
              <a:t> = </a:t>
            </a:r>
            <a:r>
              <a:rPr lang="en-US" sz="2400" dirty="0" err="1">
                <a:solidFill>
                  <a:schemeClr val="bg1"/>
                </a:solidFill>
                <a:latin typeface="Aptos" panose="020B0004020202020204" pitchFamily="34" charset="0"/>
              </a:rPr>
              <a:t>file.readlines</a:t>
            </a:r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</a:rPr>
              <a:t>()</a:t>
            </a:r>
          </a:p>
          <a:p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</a:rPr>
              <a:t>pattern = </a:t>
            </a:r>
            <a:r>
              <a:rPr lang="en-US" sz="2400" dirty="0" err="1">
                <a:solidFill>
                  <a:schemeClr val="bg1"/>
                </a:solidFill>
                <a:latin typeface="Aptos" panose="020B0004020202020204" pitchFamily="34" charset="0"/>
              </a:rPr>
              <a:t>re.compile</a:t>
            </a:r>
            <a:r>
              <a:rPr lang="en-US" sz="2400" dirty="0">
                <a:solidFill>
                  <a:schemeClr val="bg1"/>
                </a:solidFill>
                <a:latin typeface="Aptos" panose="020B0004020202020204" pitchFamily="34" charset="0"/>
              </a:rPr>
              <a:t>(...)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A2071B-1941-BD58-EC0D-4D4F97319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3288889"/>
            <a:ext cx="5605628" cy="1607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36258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4D"/>
                </a:solidFill>
                <a:latin typeface="Aptos Display"/>
              </a:defRPr>
            </a:pPr>
            <a:r>
              <a:rPr lang="en-US" sz="4000" dirty="0">
                <a:solidFill>
                  <a:schemeClr val="bg1"/>
                </a:solidFill>
              </a:rPr>
              <a:t>PHASE 3 – EXCHANGE RATE RECONCILIATION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3033743" cy="5252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74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Process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Load the daily EUR to USD exchange rate file.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Convert Date to datetime and sort by date.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Forward-fill missing exchange rate values.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Merge transactions with FX rates on Date.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Calculate USD Revenue.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91432" y="5835159"/>
            <a:ext cx="5872807" cy="845860"/>
          </a:xfrm>
          <a:prstGeom prst="roundRect">
            <a:avLst/>
          </a:prstGeom>
          <a:solidFill>
            <a:srgbClr val="F2F4F7"/>
          </a:solidFill>
          <a:ln>
            <a:solidFill>
              <a:srgbClr val="AAB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F374D"/>
                </a:solidFill>
              </a:defRPr>
            </a:pPr>
            <a:r>
              <a:rPr dirty="0" err="1"/>
              <a:t>USD_Revenue</a:t>
            </a:r>
            <a:r>
              <a:rPr dirty="0"/>
              <a:t> = </a:t>
            </a:r>
            <a:r>
              <a:rPr dirty="0" err="1"/>
              <a:t>Euro_Value</a:t>
            </a:r>
            <a:r>
              <a:rPr dirty="0"/>
              <a:t> × </a:t>
            </a:r>
            <a:r>
              <a:rPr dirty="0" err="1"/>
              <a:t>EUR_to_USD</a:t>
            </a:r>
            <a:endParaRPr dirty="0"/>
          </a:p>
          <a:p>
            <a:pPr algn="ctr">
              <a:defRPr sz="1300">
                <a:solidFill>
                  <a:srgbClr val="5F6368"/>
                </a:solidFill>
              </a:defRPr>
            </a:pPr>
            <a:r>
              <a:rPr dirty="0"/>
              <a:t>Validation: Missing FX values after reconciliation =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5921BD-D4A4-006D-F1A0-9C6F295CFC58}"/>
              </a:ext>
            </a:extLst>
          </p:cNvPr>
          <p:cNvSpPr txBox="1"/>
          <p:nvPr/>
        </p:nvSpPr>
        <p:spPr>
          <a:xfrm>
            <a:off x="4675239" y="1298226"/>
            <a:ext cx="751676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ptos" panose="020B0004020202020204" pitchFamily="34" charset="0"/>
              </a:rPr>
              <a:t>CODE</a:t>
            </a:r>
          </a:p>
          <a:p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fx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["Date"] =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pd.to_datetime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(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fx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["Date"])</a:t>
            </a:r>
          </a:p>
          <a:p>
            <a:endParaRPr 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fx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["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EUR_to_USD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"] =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pd.to_numeric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(</a:t>
            </a:r>
          </a:p>
          <a:p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  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fx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["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EUR_to_USD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"],</a:t>
            </a:r>
          </a:p>
          <a:p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   errors="coerce"</a:t>
            </a:r>
          </a:p>
          <a:p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)</a:t>
            </a:r>
          </a:p>
          <a:p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fx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=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fx.sort_values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("Date").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reset_index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(drop=True)</a:t>
            </a:r>
          </a:p>
          <a:p>
            <a:endParaRPr 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fx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["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EUR_to_USD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"] =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fx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["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EUR_to_USD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"].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ffill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()</a:t>
            </a:r>
          </a:p>
          <a:p>
            <a:endParaRPr lang="en-US" sz="20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print("Missing FX values:", 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fx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["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EUR_to_USD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"].</a:t>
            </a:r>
            <a:r>
              <a:rPr lang="en-US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isna</a:t>
            </a:r>
            <a:r>
              <a:rPr 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().sum())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50779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4D"/>
                </a:solidFill>
                <a:latin typeface="Aptos Display"/>
              </a:defRPr>
            </a:pPr>
            <a:r>
              <a:rPr lang="en-US" sz="4000" dirty="0">
                <a:solidFill>
                  <a:schemeClr val="bg1"/>
                </a:solidFill>
              </a:rPr>
              <a:t>PHASE 3 – ACTIVE USER RECONCILIATION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3195975" cy="5252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74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Process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Merge cleaned transactions with the active user list.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Match transactions using </a:t>
            </a:r>
            <a:r>
              <a:rPr sz="2400" dirty="0" err="1">
                <a:solidFill>
                  <a:schemeClr val="bg1"/>
                </a:solidFill>
              </a:rPr>
              <a:t>User_ID</a:t>
            </a:r>
            <a:r>
              <a:rPr sz="2400" dirty="0">
                <a:solidFill>
                  <a:schemeClr val="bg1"/>
                </a:solidFill>
              </a:rPr>
              <a:t>.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Retain only transactions belonging to active users.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Calculate final USD revenue.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Validate the final dataset.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52945" y="6115567"/>
            <a:ext cx="610435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AAB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374D"/>
                </a:solidFill>
              </a:defRPr>
            </a:pPr>
            <a:r>
              <a:rPr dirty="0"/>
              <a:t>53,899 reconciled rows  |  0 missing FX  |  0 missing USD revenue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1A0235-92E9-173A-CD75-1AD73A049EF4}"/>
              </a:ext>
            </a:extLst>
          </p:cNvPr>
          <p:cNvSpPr txBox="1"/>
          <p:nvPr/>
        </p:nvSpPr>
        <p:spPr>
          <a:xfrm>
            <a:off x="3790335" y="1324496"/>
            <a:ext cx="4000501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CODE</a:t>
            </a:r>
          </a:p>
          <a:p>
            <a:r>
              <a:rPr lang="en-US" sz="1600" dirty="0">
                <a:solidFill>
                  <a:schemeClr val="bg1"/>
                </a:solidFill>
              </a:rPr>
              <a:t>merged = </a:t>
            </a:r>
            <a:r>
              <a:rPr lang="en-US" sz="1600" dirty="0" err="1">
                <a:solidFill>
                  <a:schemeClr val="bg1"/>
                </a:solidFill>
              </a:rPr>
              <a:t>transactions.merge</a:t>
            </a:r>
            <a:r>
              <a:rPr lang="en-US" sz="1600" dirty="0">
                <a:solidFill>
                  <a:schemeClr val="bg1"/>
                </a:solidFill>
              </a:rPr>
              <a:t>(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</a:t>
            </a:r>
            <a:r>
              <a:rPr lang="en-US" sz="1600" dirty="0" err="1">
                <a:solidFill>
                  <a:schemeClr val="bg1"/>
                </a:solidFill>
              </a:rPr>
              <a:t>fx</a:t>
            </a:r>
            <a:r>
              <a:rPr lang="en-US" sz="1600" dirty="0">
                <a:solidFill>
                  <a:schemeClr val="bg1"/>
                </a:solidFill>
              </a:rPr>
              <a:t>[["Date", "</a:t>
            </a:r>
            <a:r>
              <a:rPr lang="en-US" sz="1600" dirty="0" err="1">
                <a:solidFill>
                  <a:schemeClr val="bg1"/>
                </a:solidFill>
              </a:rPr>
              <a:t>EUR_to_USD</a:t>
            </a:r>
            <a:r>
              <a:rPr lang="en-US" sz="1600" dirty="0">
                <a:solidFill>
                  <a:schemeClr val="bg1"/>
                </a:solidFill>
              </a:rPr>
              <a:t>"]],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on="Date",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how="left")</a:t>
            </a:r>
          </a:p>
          <a:p>
            <a:r>
              <a:rPr lang="en-US" sz="1600" dirty="0">
                <a:solidFill>
                  <a:schemeClr val="bg1"/>
                </a:solidFill>
              </a:rPr>
              <a:t>merged["</a:t>
            </a:r>
            <a:r>
              <a:rPr lang="en-US" sz="1600" dirty="0" err="1">
                <a:solidFill>
                  <a:schemeClr val="bg1"/>
                </a:solidFill>
              </a:rPr>
              <a:t>USD_Revenue</a:t>
            </a:r>
            <a:r>
              <a:rPr lang="en-US" sz="1600" dirty="0">
                <a:solidFill>
                  <a:schemeClr val="bg1"/>
                </a:solidFill>
              </a:rPr>
              <a:t>"] = (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merged["</a:t>
            </a:r>
            <a:r>
              <a:rPr lang="en-US" sz="1600" dirty="0" err="1">
                <a:solidFill>
                  <a:schemeClr val="bg1"/>
                </a:solidFill>
              </a:rPr>
              <a:t>Euro_Value</a:t>
            </a:r>
            <a:r>
              <a:rPr lang="en-US" sz="1600" dirty="0">
                <a:solidFill>
                  <a:schemeClr val="bg1"/>
                </a:solidFill>
              </a:rPr>
              <a:t>"] *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merged["</a:t>
            </a:r>
            <a:r>
              <a:rPr lang="en-US" sz="1600" dirty="0" err="1">
                <a:solidFill>
                  <a:schemeClr val="bg1"/>
                </a:solidFill>
              </a:rPr>
              <a:t>EUR_to_USD</a:t>
            </a:r>
            <a:r>
              <a:rPr lang="en-US" sz="1600" dirty="0">
                <a:solidFill>
                  <a:schemeClr val="bg1"/>
                </a:solidFill>
              </a:rPr>
              <a:t>"])</a:t>
            </a:r>
          </a:p>
          <a:p>
            <a:r>
              <a:rPr lang="en-US" sz="1600" dirty="0">
                <a:solidFill>
                  <a:schemeClr val="bg1"/>
                </a:solidFill>
              </a:rPr>
              <a:t>display(</a:t>
            </a:r>
            <a:r>
              <a:rPr lang="en-US" sz="1600" dirty="0" err="1">
                <a:solidFill>
                  <a:schemeClr val="bg1"/>
                </a:solidFill>
              </a:rPr>
              <a:t>merged.head</a:t>
            </a:r>
            <a:r>
              <a:rPr lang="en-US" sz="1600" dirty="0">
                <a:solidFill>
                  <a:schemeClr val="bg1"/>
                </a:solidFill>
              </a:rPr>
              <a:t>())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 err="1">
                <a:solidFill>
                  <a:schemeClr val="bg1"/>
                </a:solidFill>
              </a:rPr>
              <a:t>final_data</a:t>
            </a:r>
            <a:r>
              <a:rPr lang="en-US" sz="1600" dirty="0">
                <a:solidFill>
                  <a:schemeClr val="bg1"/>
                </a:solidFill>
              </a:rPr>
              <a:t> = </a:t>
            </a:r>
            <a:r>
              <a:rPr lang="en-US" sz="1600" dirty="0" err="1">
                <a:solidFill>
                  <a:schemeClr val="bg1"/>
                </a:solidFill>
              </a:rPr>
              <a:t>merged.merge</a:t>
            </a:r>
            <a:r>
              <a:rPr lang="en-US" sz="1600" dirty="0">
                <a:solidFill>
                  <a:schemeClr val="bg1"/>
                </a:solidFill>
              </a:rPr>
              <a:t>(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</a:t>
            </a:r>
            <a:r>
              <a:rPr lang="en-US" sz="1600" dirty="0" err="1">
                <a:solidFill>
                  <a:schemeClr val="bg1"/>
                </a:solidFill>
              </a:rPr>
              <a:t>active_users</a:t>
            </a:r>
            <a:r>
              <a:rPr lang="en-US" sz="1600" dirty="0">
                <a:solidFill>
                  <a:schemeClr val="bg1"/>
                </a:solidFill>
              </a:rPr>
              <a:t>[["</a:t>
            </a:r>
            <a:r>
              <a:rPr lang="en-US" sz="1600" dirty="0" err="1">
                <a:solidFill>
                  <a:schemeClr val="bg1"/>
                </a:solidFill>
              </a:rPr>
              <a:t>user_id</a:t>
            </a:r>
            <a:r>
              <a:rPr lang="en-US" sz="1600" dirty="0">
                <a:solidFill>
                  <a:schemeClr val="bg1"/>
                </a:solidFill>
              </a:rPr>
              <a:t>", "name"]],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</a:t>
            </a:r>
            <a:r>
              <a:rPr lang="en-US" sz="1600" dirty="0" err="1">
                <a:solidFill>
                  <a:schemeClr val="bg1"/>
                </a:solidFill>
              </a:rPr>
              <a:t>left_on</a:t>
            </a:r>
            <a:r>
              <a:rPr lang="en-US" sz="1600" dirty="0">
                <a:solidFill>
                  <a:schemeClr val="bg1"/>
                </a:solidFill>
              </a:rPr>
              <a:t>="</a:t>
            </a:r>
            <a:r>
              <a:rPr lang="en-US" sz="1600" dirty="0" err="1">
                <a:solidFill>
                  <a:schemeClr val="bg1"/>
                </a:solidFill>
              </a:rPr>
              <a:t>User_ID</a:t>
            </a:r>
            <a:r>
              <a:rPr lang="en-US" sz="1600" dirty="0">
                <a:solidFill>
                  <a:schemeClr val="bg1"/>
                </a:solidFill>
              </a:rPr>
              <a:t>",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</a:t>
            </a:r>
            <a:r>
              <a:rPr lang="en-US" sz="1600" dirty="0" err="1">
                <a:solidFill>
                  <a:schemeClr val="bg1"/>
                </a:solidFill>
              </a:rPr>
              <a:t>right_on</a:t>
            </a:r>
            <a:r>
              <a:rPr lang="en-US" sz="1600" dirty="0">
                <a:solidFill>
                  <a:schemeClr val="bg1"/>
                </a:solidFill>
              </a:rPr>
              <a:t>="</a:t>
            </a:r>
            <a:r>
              <a:rPr lang="en-US" sz="1600" dirty="0" err="1">
                <a:solidFill>
                  <a:schemeClr val="bg1"/>
                </a:solidFill>
              </a:rPr>
              <a:t>user_id</a:t>
            </a:r>
            <a:r>
              <a:rPr lang="en-US" sz="1600" dirty="0">
                <a:solidFill>
                  <a:schemeClr val="bg1"/>
                </a:solidFill>
              </a:rPr>
              <a:t>",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how="inner")</a:t>
            </a:r>
          </a:p>
          <a:p>
            <a:r>
              <a:rPr lang="en-US" sz="1600" dirty="0" err="1">
                <a:solidFill>
                  <a:schemeClr val="bg1"/>
                </a:solidFill>
              </a:rPr>
              <a:t>final_data</a:t>
            </a:r>
            <a:r>
              <a:rPr lang="en-US" sz="1600" dirty="0">
                <a:solidFill>
                  <a:schemeClr val="bg1"/>
                </a:solidFill>
              </a:rPr>
              <a:t> = </a:t>
            </a:r>
            <a:r>
              <a:rPr lang="en-US" sz="1600" dirty="0" err="1">
                <a:solidFill>
                  <a:schemeClr val="bg1"/>
                </a:solidFill>
              </a:rPr>
              <a:t>final_data.drop</a:t>
            </a:r>
            <a:r>
              <a:rPr lang="en-US" sz="1600" dirty="0">
                <a:solidFill>
                  <a:schemeClr val="bg1"/>
                </a:solidFill>
              </a:rPr>
              <a:t>(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columns=["</a:t>
            </a:r>
            <a:r>
              <a:rPr lang="en-US" sz="1600" dirty="0" err="1">
                <a:solidFill>
                  <a:schemeClr val="bg1"/>
                </a:solidFill>
              </a:rPr>
              <a:t>user_id</a:t>
            </a:r>
            <a:r>
              <a:rPr lang="en-US" sz="1600" dirty="0">
                <a:solidFill>
                  <a:schemeClr val="bg1"/>
                </a:solidFill>
              </a:rPr>
              <a:t>"])</a:t>
            </a:r>
          </a:p>
          <a:p>
            <a:r>
              <a:rPr lang="en-US" sz="1600" dirty="0">
                <a:solidFill>
                  <a:schemeClr val="bg1"/>
                </a:solidFill>
              </a:rPr>
              <a:t>print("Reconciled rows:", </a:t>
            </a:r>
            <a:r>
              <a:rPr lang="en-US" sz="1600" dirty="0" err="1">
                <a:solidFill>
                  <a:schemeClr val="bg1"/>
                </a:solidFill>
              </a:rPr>
              <a:t>len</a:t>
            </a:r>
            <a:r>
              <a:rPr lang="en-US" sz="1600" dirty="0">
                <a:solidFill>
                  <a:schemeClr val="bg1"/>
                </a:solidFill>
              </a:rPr>
              <a:t>(</a:t>
            </a:r>
            <a:r>
              <a:rPr lang="en-US" sz="1600" dirty="0" err="1">
                <a:solidFill>
                  <a:schemeClr val="bg1"/>
                </a:solidFill>
              </a:rPr>
              <a:t>final_data</a:t>
            </a:r>
            <a:r>
              <a:rPr lang="en-US" sz="1600" dirty="0">
                <a:solidFill>
                  <a:schemeClr val="bg1"/>
                </a:solidFill>
              </a:rPr>
              <a:t>))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F61B278-BDF1-7E40-1CB4-2E977355A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2264" y="1989072"/>
            <a:ext cx="4354768" cy="8686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7ABE700-D49B-84FE-82EE-EA68D8EF6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284" y="3077600"/>
            <a:ext cx="4239748" cy="29150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86636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4D"/>
                </a:solidFill>
                <a:latin typeface="Aptos Display"/>
              </a:defRPr>
            </a:pPr>
            <a:r>
              <a:rPr lang="en-US" sz="4000" dirty="0">
                <a:solidFill>
                  <a:schemeClr val="bg1"/>
                </a:solidFill>
              </a:rPr>
              <a:t>FINAL DATASET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3657600" cy="248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74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Exported File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•power_bi_ready_dataset.csv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53,899 rows exported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Date range: 2023-01-01 to 2023-12-31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0723" y="6135328"/>
            <a:ext cx="6949440" cy="585511"/>
          </a:xfrm>
          <a:prstGeom prst="roundRect">
            <a:avLst/>
          </a:prstGeom>
          <a:solidFill>
            <a:srgbClr val="F2F4F7"/>
          </a:solidFill>
          <a:ln>
            <a:solidFill>
              <a:srgbClr val="AAB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F374D"/>
                </a:solidFill>
              </a:defRPr>
            </a:pPr>
            <a:r>
              <a:t>Total USD Revenue: $148,274,622.91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71D850-4DF4-14B3-8705-E494ADF7C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789" y="1027926"/>
            <a:ext cx="5998218" cy="22904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C35E621-B556-BBAE-9D0D-F92E1BF35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156" y="3445224"/>
            <a:ext cx="5915851" cy="23663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32647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4D"/>
                </a:solidFill>
                <a:latin typeface="Aptos Display"/>
              </a:defRPr>
            </a:pPr>
            <a:r>
              <a:rPr lang="en-US" sz="4000" dirty="0">
                <a:solidFill>
                  <a:schemeClr val="bg1"/>
                </a:solidFill>
              </a:rPr>
              <a:t>PHASE 1–3 PROCESS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65960" y="1188720"/>
            <a:ext cx="8229600" cy="64008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6368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Enterprise Database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65960" y="1975104"/>
            <a:ext cx="8229600" cy="64008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6368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Phase 1: SQL User Status Extraction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14,183 Active Users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65960" y="2761488"/>
            <a:ext cx="8229600" cy="64008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6368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Phase 2: Server Log Cleaning &amp; Regex Parsing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94,902 Clean Transactions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65960" y="3547872"/>
            <a:ext cx="8229600" cy="64008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6368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Phase 3: FX Reconciliation &amp; Active User Matching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53,899 Reconciled Transactions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65960" y="4334256"/>
            <a:ext cx="8229600" cy="64008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6368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USD Revenue Calculation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$148.27 Million Total USD 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5120640"/>
            <a:ext cx="8229600" cy="64008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6368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Power BI-Ready Dataset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16801"/>
            <a:ext cx="782361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4D"/>
                </a:solidFill>
                <a:latin typeface="Aptos Display"/>
              </a:defRPr>
            </a:pPr>
            <a:r>
              <a:rPr lang="en-US" sz="4000" dirty="0">
                <a:solidFill>
                  <a:schemeClr val="bg1"/>
                </a:solidFill>
              </a:rPr>
              <a:t>PHASE 4 – 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8998" y="5664456"/>
            <a:ext cx="128143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74D"/>
                </a:solidFill>
                <a:latin typeface="Aptos"/>
              </a:defRPr>
            </a:pPr>
            <a:r>
              <a:rPr sz="2000" dirty="0">
                <a:solidFill>
                  <a:schemeClr val="bg1"/>
                </a:solidFill>
              </a:rPr>
              <a:t>Required Components</a:t>
            </a:r>
          </a:p>
          <a:p>
            <a:pPr>
              <a:spcAft>
                <a:spcPts val="700"/>
              </a:spcAft>
              <a:defRPr sz="1200">
                <a:solidFill>
                  <a:srgbClr val="2D2D2D"/>
                </a:solidFill>
                <a:latin typeface="Aptos"/>
              </a:defRPr>
            </a:pPr>
            <a:r>
              <a:rPr sz="2000" dirty="0">
                <a:solidFill>
                  <a:schemeClr val="bg1"/>
                </a:solidFill>
              </a:rPr>
              <a:t>• Date Slicer  |  Total USD Revenue  |  Revenue Trend Over Time  |  Top 5 Customers by Revenue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202AE4-64B1-EB08-266E-BE901EF4A5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77" r="4636"/>
          <a:stretch>
            <a:fillRect/>
          </a:stretch>
        </p:blipFill>
        <p:spPr>
          <a:xfrm>
            <a:off x="0" y="924687"/>
            <a:ext cx="12192000" cy="47397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628511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4D"/>
                </a:solidFill>
                <a:latin typeface="Aptos Display"/>
              </a:defRPr>
            </a:pPr>
            <a:r>
              <a:rPr lang="en-US" sz="4000" dirty="0">
                <a:solidFill>
                  <a:schemeClr val="bg1"/>
                </a:solidFill>
              </a:rPr>
              <a:t>PROJECT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5303520" cy="3775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74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Completed Work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Extracted latest active user records using SQL.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Cleaned and parsed 100,000 server log transactions.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Removed 5,098 ERROR records.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Prepared 94,902 valid transactions.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Reconciled transactions with daily exchange rates.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34440"/>
            <a:ext cx="5212080" cy="3685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74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Final Results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Matched transactions with active users.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Generated 53,899 final reconciled records.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Calculated total USD revenue of $148,274,622.91.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Exported the final dataset for Power BI.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32636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4D"/>
                </a:solidFill>
                <a:latin typeface="Aptos Display"/>
              </a:defRPr>
            </a:pPr>
            <a:r>
              <a:rPr lang="en-US" sz="4000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479" y="1255088"/>
            <a:ext cx="10515600" cy="423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74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Summary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The project completed the data reconciliation process from raw enterprise data to a Power BI-ready dataset.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SQL was used to identify the latest active users.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Python and Regular Expressions were used to clean and extract transaction information.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Exchange rates were used to calculate USD revenue.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Active-user reconciliation produced 53,899 records with no missing FX or USD revenue.</a:t>
            </a:r>
          </a:p>
          <a:p>
            <a:pPr>
              <a:spcAft>
                <a:spcPts val="7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>
                <a:solidFill>
                  <a:schemeClr val="bg1"/>
                </a:solidFill>
              </a:rPr>
              <a:t>• The final CSV was prepared for Power BI reporting</a:t>
            </a:r>
            <a:r>
              <a:rPr lang="en-US" sz="2400" dirty="0">
                <a:solidFill>
                  <a:schemeClr val="bg1"/>
                </a:solidFill>
              </a:rPr>
              <a:t> with dashboard.</a:t>
            </a:r>
            <a:endParaRPr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178</TotalTime>
  <Words>1050</Words>
  <Application>Microsoft Office PowerPoint</Application>
  <PresentationFormat>Widescreen</PresentationFormat>
  <Paragraphs>138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Neue Haas Grotesk Text Pro</vt:lpstr>
      <vt:lpstr>Film Burn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Maitreyini s</cp:lastModifiedBy>
  <cp:revision>2</cp:revision>
  <dcterms:created xsi:type="dcterms:W3CDTF">2013-01-27T09:14:16Z</dcterms:created>
  <dcterms:modified xsi:type="dcterms:W3CDTF">2026-09-24T17:05:45Z</dcterms:modified>
  <cp:category/>
</cp:coreProperties>
</file>